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6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D5A35D-A113-42B3-95AC-78AF9FB4CF1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BEF5F3-DB3E-4A9D-9A3E-1E8837843262}">
      <dgm:prSet/>
      <dgm:spPr/>
      <dgm:t>
        <a:bodyPr/>
        <a:lstStyle/>
        <a:p>
          <a:r>
            <a:rPr lang="en-AU"/>
            <a:t>Fraudulent transactions are </a:t>
          </a:r>
          <a:r>
            <a:rPr lang="en-AU" b="1"/>
            <a:t>unauthorized or deceptive financial activities</a:t>
          </a:r>
          <a:r>
            <a:rPr lang="en-AU"/>
            <a:t> that result in </a:t>
          </a:r>
          <a:r>
            <a:rPr lang="en-AU" b="1"/>
            <a:t>direct or indirect loss</a:t>
          </a:r>
          <a:r>
            <a:rPr lang="en-AU"/>
            <a:t> to the bank, the customer, or both</a:t>
          </a:r>
          <a:endParaRPr lang="en-US"/>
        </a:p>
      </dgm:t>
    </dgm:pt>
    <dgm:pt modelId="{0BE998C2-4E6F-4EFB-9B80-556B08378984}" type="parTrans" cxnId="{0E884B90-4DC5-4FC7-9656-299CA46DDB83}">
      <dgm:prSet/>
      <dgm:spPr/>
      <dgm:t>
        <a:bodyPr/>
        <a:lstStyle/>
        <a:p>
          <a:endParaRPr lang="en-US"/>
        </a:p>
      </dgm:t>
    </dgm:pt>
    <dgm:pt modelId="{D9E6E76C-04CE-458C-942D-4649A7C73717}" type="sibTrans" cxnId="{0E884B90-4DC5-4FC7-9656-299CA46DDB83}">
      <dgm:prSet/>
      <dgm:spPr/>
      <dgm:t>
        <a:bodyPr/>
        <a:lstStyle/>
        <a:p>
          <a:endParaRPr lang="en-US"/>
        </a:p>
      </dgm:t>
    </dgm:pt>
    <dgm:pt modelId="{9CFC43E1-1BE6-4BBA-B02C-833CFA558356}">
      <dgm:prSet/>
      <dgm:spPr/>
      <dgm:t>
        <a:bodyPr/>
        <a:lstStyle/>
        <a:p>
          <a:r>
            <a:rPr lang="en-AU"/>
            <a:t>Total fraud losses reached </a:t>
          </a:r>
          <a:r>
            <a:rPr lang="en-AU" b="1"/>
            <a:t>€4.2 billion in 2024</a:t>
          </a:r>
          <a:r>
            <a:rPr lang="en-AU"/>
            <a:t>, up from €3.5 billion in 2023 – According to the European Economic Area.</a:t>
          </a:r>
          <a:endParaRPr lang="en-US"/>
        </a:p>
      </dgm:t>
    </dgm:pt>
    <dgm:pt modelId="{5C714BC6-1649-4511-B97F-B5E81F9F4B45}" type="parTrans" cxnId="{ADAE9C0B-3AAA-4E84-A76C-D5450B554EAB}">
      <dgm:prSet/>
      <dgm:spPr/>
      <dgm:t>
        <a:bodyPr/>
        <a:lstStyle/>
        <a:p>
          <a:endParaRPr lang="en-US"/>
        </a:p>
      </dgm:t>
    </dgm:pt>
    <dgm:pt modelId="{09555D94-111E-4DA7-BF80-2077D37A5A48}" type="sibTrans" cxnId="{ADAE9C0B-3AAA-4E84-A76C-D5450B554EAB}">
      <dgm:prSet/>
      <dgm:spPr/>
      <dgm:t>
        <a:bodyPr/>
        <a:lstStyle/>
        <a:p>
          <a:endParaRPr lang="en-US"/>
        </a:p>
      </dgm:t>
    </dgm:pt>
    <dgm:pt modelId="{58932F77-C2FC-4BE8-9A57-9BA281C3411A}">
      <dgm:prSet/>
      <dgm:spPr/>
      <dgm:t>
        <a:bodyPr/>
        <a:lstStyle/>
        <a:p>
          <a:r>
            <a:rPr lang="en-AU"/>
            <a:t>Every </a:t>
          </a:r>
          <a:r>
            <a:rPr lang="en-AU" b="1"/>
            <a:t>$1 lost</a:t>
          </a:r>
          <a:r>
            <a:rPr lang="en-AU"/>
            <a:t> to fraud, North American financial institutions lose about </a:t>
          </a:r>
          <a:r>
            <a:rPr lang="en-AU" b="1"/>
            <a:t>$4.41</a:t>
          </a:r>
          <a:r>
            <a:rPr lang="en-AU"/>
            <a:t> in total cost (LexisNexis study)</a:t>
          </a:r>
          <a:endParaRPr lang="en-US"/>
        </a:p>
      </dgm:t>
    </dgm:pt>
    <dgm:pt modelId="{177B7049-884C-4D4E-A337-93BB13F72BA5}" type="parTrans" cxnId="{E9B4AD7D-A638-4EB4-88FB-FFEA44DA4904}">
      <dgm:prSet/>
      <dgm:spPr/>
      <dgm:t>
        <a:bodyPr/>
        <a:lstStyle/>
        <a:p>
          <a:endParaRPr lang="en-US"/>
        </a:p>
      </dgm:t>
    </dgm:pt>
    <dgm:pt modelId="{038F7F14-4F3D-46B0-A0B9-4EB13B338BEE}" type="sibTrans" cxnId="{E9B4AD7D-A638-4EB4-88FB-FFEA44DA4904}">
      <dgm:prSet/>
      <dgm:spPr/>
      <dgm:t>
        <a:bodyPr/>
        <a:lstStyle/>
        <a:p>
          <a:endParaRPr lang="en-US"/>
        </a:p>
      </dgm:t>
    </dgm:pt>
    <dgm:pt modelId="{2166E84D-A683-44C5-B474-37E8C16A6ED1}" type="pres">
      <dgm:prSet presAssocID="{48D5A35D-A113-42B3-95AC-78AF9FB4CF12}" presName="root" presStyleCnt="0">
        <dgm:presLayoutVars>
          <dgm:dir/>
          <dgm:resizeHandles val="exact"/>
        </dgm:presLayoutVars>
      </dgm:prSet>
      <dgm:spPr/>
    </dgm:pt>
    <dgm:pt modelId="{830FB50F-0B38-496D-AD36-7DA98D18DA17}" type="pres">
      <dgm:prSet presAssocID="{C0BEF5F3-DB3E-4A9D-9A3E-1E8837843262}" presName="compNode" presStyleCnt="0"/>
      <dgm:spPr/>
    </dgm:pt>
    <dgm:pt modelId="{875732F4-E8CB-4B1F-A447-89EB15DC86A0}" type="pres">
      <dgm:prSet presAssocID="{C0BEF5F3-DB3E-4A9D-9A3E-1E8837843262}" presName="bgRect" presStyleLbl="bgShp" presStyleIdx="0" presStyleCnt="3"/>
      <dgm:spPr/>
    </dgm:pt>
    <dgm:pt modelId="{6B3615DD-F517-40BE-A228-A7EB253BA103}" type="pres">
      <dgm:prSet presAssocID="{C0BEF5F3-DB3E-4A9D-9A3E-1E88378432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716F76E-7F85-4ABE-A20C-EA4978A6CA58}" type="pres">
      <dgm:prSet presAssocID="{C0BEF5F3-DB3E-4A9D-9A3E-1E8837843262}" presName="spaceRect" presStyleCnt="0"/>
      <dgm:spPr/>
    </dgm:pt>
    <dgm:pt modelId="{3AD85CD1-47EA-4969-ACBA-7740E2178863}" type="pres">
      <dgm:prSet presAssocID="{C0BEF5F3-DB3E-4A9D-9A3E-1E8837843262}" presName="parTx" presStyleLbl="revTx" presStyleIdx="0" presStyleCnt="3">
        <dgm:presLayoutVars>
          <dgm:chMax val="0"/>
          <dgm:chPref val="0"/>
        </dgm:presLayoutVars>
      </dgm:prSet>
      <dgm:spPr/>
    </dgm:pt>
    <dgm:pt modelId="{3A9CEF61-C4F5-47F7-9712-65E355FDBA7D}" type="pres">
      <dgm:prSet presAssocID="{D9E6E76C-04CE-458C-942D-4649A7C73717}" presName="sibTrans" presStyleCnt="0"/>
      <dgm:spPr/>
    </dgm:pt>
    <dgm:pt modelId="{295BBD19-3D6C-4E21-B588-89F02D7C6DC1}" type="pres">
      <dgm:prSet presAssocID="{9CFC43E1-1BE6-4BBA-B02C-833CFA558356}" presName="compNode" presStyleCnt="0"/>
      <dgm:spPr/>
    </dgm:pt>
    <dgm:pt modelId="{7398AB2E-7754-4DBA-A3B2-7E2F2F6B06D3}" type="pres">
      <dgm:prSet presAssocID="{9CFC43E1-1BE6-4BBA-B02C-833CFA558356}" presName="bgRect" presStyleLbl="bgShp" presStyleIdx="1" presStyleCnt="3"/>
      <dgm:spPr/>
    </dgm:pt>
    <dgm:pt modelId="{A98CD91E-D9EC-4BC8-8796-1EE15C9866B3}" type="pres">
      <dgm:prSet presAssocID="{9CFC43E1-1BE6-4BBA-B02C-833CFA5583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CCF22E6-1E82-4D86-AEFD-83E5CC5F0347}" type="pres">
      <dgm:prSet presAssocID="{9CFC43E1-1BE6-4BBA-B02C-833CFA558356}" presName="spaceRect" presStyleCnt="0"/>
      <dgm:spPr/>
    </dgm:pt>
    <dgm:pt modelId="{90C94303-FF0D-4680-AB45-9562B7BEC2C3}" type="pres">
      <dgm:prSet presAssocID="{9CFC43E1-1BE6-4BBA-B02C-833CFA558356}" presName="parTx" presStyleLbl="revTx" presStyleIdx="1" presStyleCnt="3">
        <dgm:presLayoutVars>
          <dgm:chMax val="0"/>
          <dgm:chPref val="0"/>
        </dgm:presLayoutVars>
      </dgm:prSet>
      <dgm:spPr/>
    </dgm:pt>
    <dgm:pt modelId="{31AFA175-E590-4B71-A438-901FC6C1B928}" type="pres">
      <dgm:prSet presAssocID="{09555D94-111E-4DA7-BF80-2077D37A5A48}" presName="sibTrans" presStyleCnt="0"/>
      <dgm:spPr/>
    </dgm:pt>
    <dgm:pt modelId="{C46F0122-2F2D-49F4-BD39-95BB520959BD}" type="pres">
      <dgm:prSet presAssocID="{58932F77-C2FC-4BE8-9A57-9BA281C3411A}" presName="compNode" presStyleCnt="0"/>
      <dgm:spPr/>
    </dgm:pt>
    <dgm:pt modelId="{C44412EB-ACB9-4FF6-B0E7-7501BE0DC5CB}" type="pres">
      <dgm:prSet presAssocID="{58932F77-C2FC-4BE8-9A57-9BA281C3411A}" presName="bgRect" presStyleLbl="bgShp" presStyleIdx="2" presStyleCnt="3"/>
      <dgm:spPr/>
    </dgm:pt>
    <dgm:pt modelId="{2533E651-3FA0-4AD0-84A0-4FB73BB1312B}" type="pres">
      <dgm:prSet presAssocID="{58932F77-C2FC-4BE8-9A57-9BA281C3411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7608494-808F-4220-9DEE-088583EAA607}" type="pres">
      <dgm:prSet presAssocID="{58932F77-C2FC-4BE8-9A57-9BA281C3411A}" presName="spaceRect" presStyleCnt="0"/>
      <dgm:spPr/>
    </dgm:pt>
    <dgm:pt modelId="{92C95FC0-4BB9-485D-9B85-D8F5A5BEBF6B}" type="pres">
      <dgm:prSet presAssocID="{58932F77-C2FC-4BE8-9A57-9BA281C3411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AE9C0B-3AAA-4E84-A76C-D5450B554EAB}" srcId="{48D5A35D-A113-42B3-95AC-78AF9FB4CF12}" destId="{9CFC43E1-1BE6-4BBA-B02C-833CFA558356}" srcOrd="1" destOrd="0" parTransId="{5C714BC6-1649-4511-B97F-B5E81F9F4B45}" sibTransId="{09555D94-111E-4DA7-BF80-2077D37A5A48}"/>
    <dgm:cxn modelId="{4E10A61E-BC8E-462F-841D-3F4F88829A92}" type="presOf" srcId="{9CFC43E1-1BE6-4BBA-B02C-833CFA558356}" destId="{90C94303-FF0D-4680-AB45-9562B7BEC2C3}" srcOrd="0" destOrd="0" presId="urn:microsoft.com/office/officeart/2018/2/layout/IconVerticalSolidList"/>
    <dgm:cxn modelId="{7E203A2A-FD71-462F-A6EC-438875AE1B17}" type="presOf" srcId="{48D5A35D-A113-42B3-95AC-78AF9FB4CF12}" destId="{2166E84D-A683-44C5-B474-37E8C16A6ED1}" srcOrd="0" destOrd="0" presId="urn:microsoft.com/office/officeart/2018/2/layout/IconVerticalSolidList"/>
    <dgm:cxn modelId="{EDFF1268-2E33-4D4D-89AF-90B29942FAD7}" type="presOf" srcId="{58932F77-C2FC-4BE8-9A57-9BA281C3411A}" destId="{92C95FC0-4BB9-485D-9B85-D8F5A5BEBF6B}" srcOrd="0" destOrd="0" presId="urn:microsoft.com/office/officeart/2018/2/layout/IconVerticalSolidList"/>
    <dgm:cxn modelId="{E9B4AD7D-A638-4EB4-88FB-FFEA44DA4904}" srcId="{48D5A35D-A113-42B3-95AC-78AF9FB4CF12}" destId="{58932F77-C2FC-4BE8-9A57-9BA281C3411A}" srcOrd="2" destOrd="0" parTransId="{177B7049-884C-4D4E-A337-93BB13F72BA5}" sibTransId="{038F7F14-4F3D-46B0-A0B9-4EB13B338BEE}"/>
    <dgm:cxn modelId="{6BC4738B-B35C-4530-8D4B-47E5140DEB2D}" type="presOf" srcId="{C0BEF5F3-DB3E-4A9D-9A3E-1E8837843262}" destId="{3AD85CD1-47EA-4969-ACBA-7740E2178863}" srcOrd="0" destOrd="0" presId="urn:microsoft.com/office/officeart/2018/2/layout/IconVerticalSolidList"/>
    <dgm:cxn modelId="{0E884B90-4DC5-4FC7-9656-299CA46DDB83}" srcId="{48D5A35D-A113-42B3-95AC-78AF9FB4CF12}" destId="{C0BEF5F3-DB3E-4A9D-9A3E-1E8837843262}" srcOrd="0" destOrd="0" parTransId="{0BE998C2-4E6F-4EFB-9B80-556B08378984}" sibTransId="{D9E6E76C-04CE-458C-942D-4649A7C73717}"/>
    <dgm:cxn modelId="{FEC2A97C-4FEC-4E1B-9034-90D65AD28FB4}" type="presParOf" srcId="{2166E84D-A683-44C5-B474-37E8C16A6ED1}" destId="{830FB50F-0B38-496D-AD36-7DA98D18DA17}" srcOrd="0" destOrd="0" presId="urn:microsoft.com/office/officeart/2018/2/layout/IconVerticalSolidList"/>
    <dgm:cxn modelId="{D843862B-FB85-4064-BCEB-8DB8C9BAF0BD}" type="presParOf" srcId="{830FB50F-0B38-496D-AD36-7DA98D18DA17}" destId="{875732F4-E8CB-4B1F-A447-89EB15DC86A0}" srcOrd="0" destOrd="0" presId="urn:microsoft.com/office/officeart/2018/2/layout/IconVerticalSolidList"/>
    <dgm:cxn modelId="{4B9CAEE1-3353-4702-9950-A0E55ACD0FE6}" type="presParOf" srcId="{830FB50F-0B38-496D-AD36-7DA98D18DA17}" destId="{6B3615DD-F517-40BE-A228-A7EB253BA103}" srcOrd="1" destOrd="0" presId="urn:microsoft.com/office/officeart/2018/2/layout/IconVerticalSolidList"/>
    <dgm:cxn modelId="{6C705729-0171-45AA-B0AC-76B81B95F304}" type="presParOf" srcId="{830FB50F-0B38-496D-AD36-7DA98D18DA17}" destId="{D716F76E-7F85-4ABE-A20C-EA4978A6CA58}" srcOrd="2" destOrd="0" presId="urn:microsoft.com/office/officeart/2018/2/layout/IconVerticalSolidList"/>
    <dgm:cxn modelId="{1C267874-ED3C-4BEF-B341-E8BABCAE243E}" type="presParOf" srcId="{830FB50F-0B38-496D-AD36-7DA98D18DA17}" destId="{3AD85CD1-47EA-4969-ACBA-7740E2178863}" srcOrd="3" destOrd="0" presId="urn:microsoft.com/office/officeart/2018/2/layout/IconVerticalSolidList"/>
    <dgm:cxn modelId="{2ED2FDD1-B8F8-4072-AAA5-FB6BE60BA384}" type="presParOf" srcId="{2166E84D-A683-44C5-B474-37E8C16A6ED1}" destId="{3A9CEF61-C4F5-47F7-9712-65E355FDBA7D}" srcOrd="1" destOrd="0" presId="urn:microsoft.com/office/officeart/2018/2/layout/IconVerticalSolidList"/>
    <dgm:cxn modelId="{B79DA953-75E4-4BBF-82AE-0FF208B8C1F5}" type="presParOf" srcId="{2166E84D-A683-44C5-B474-37E8C16A6ED1}" destId="{295BBD19-3D6C-4E21-B588-89F02D7C6DC1}" srcOrd="2" destOrd="0" presId="urn:microsoft.com/office/officeart/2018/2/layout/IconVerticalSolidList"/>
    <dgm:cxn modelId="{65E8450B-5984-4B02-BCDB-3D4D331D437D}" type="presParOf" srcId="{295BBD19-3D6C-4E21-B588-89F02D7C6DC1}" destId="{7398AB2E-7754-4DBA-A3B2-7E2F2F6B06D3}" srcOrd="0" destOrd="0" presId="urn:microsoft.com/office/officeart/2018/2/layout/IconVerticalSolidList"/>
    <dgm:cxn modelId="{9614DE79-B33B-4CB2-8094-B3FA4C231032}" type="presParOf" srcId="{295BBD19-3D6C-4E21-B588-89F02D7C6DC1}" destId="{A98CD91E-D9EC-4BC8-8796-1EE15C9866B3}" srcOrd="1" destOrd="0" presId="urn:microsoft.com/office/officeart/2018/2/layout/IconVerticalSolidList"/>
    <dgm:cxn modelId="{5D738C22-05C5-4F1C-A33C-06C1EA204F21}" type="presParOf" srcId="{295BBD19-3D6C-4E21-B588-89F02D7C6DC1}" destId="{9CCF22E6-1E82-4D86-AEFD-83E5CC5F0347}" srcOrd="2" destOrd="0" presId="urn:microsoft.com/office/officeart/2018/2/layout/IconVerticalSolidList"/>
    <dgm:cxn modelId="{299D01BF-F38A-4B12-9AC1-B29D4CB532F9}" type="presParOf" srcId="{295BBD19-3D6C-4E21-B588-89F02D7C6DC1}" destId="{90C94303-FF0D-4680-AB45-9562B7BEC2C3}" srcOrd="3" destOrd="0" presId="urn:microsoft.com/office/officeart/2018/2/layout/IconVerticalSolidList"/>
    <dgm:cxn modelId="{B6564A0F-AC8E-4AB1-937F-00A36AAB69EA}" type="presParOf" srcId="{2166E84D-A683-44C5-B474-37E8C16A6ED1}" destId="{31AFA175-E590-4B71-A438-901FC6C1B928}" srcOrd="3" destOrd="0" presId="urn:microsoft.com/office/officeart/2018/2/layout/IconVerticalSolidList"/>
    <dgm:cxn modelId="{A9DF867D-2FF3-488A-8ADA-ED075E435214}" type="presParOf" srcId="{2166E84D-A683-44C5-B474-37E8C16A6ED1}" destId="{C46F0122-2F2D-49F4-BD39-95BB520959BD}" srcOrd="4" destOrd="0" presId="urn:microsoft.com/office/officeart/2018/2/layout/IconVerticalSolidList"/>
    <dgm:cxn modelId="{D8BC81A9-70A1-46D0-85CB-9128338E7B25}" type="presParOf" srcId="{C46F0122-2F2D-49F4-BD39-95BB520959BD}" destId="{C44412EB-ACB9-4FF6-B0E7-7501BE0DC5CB}" srcOrd="0" destOrd="0" presId="urn:microsoft.com/office/officeart/2018/2/layout/IconVerticalSolidList"/>
    <dgm:cxn modelId="{2E685EAC-AAF8-4D84-9451-EDE04B2B3DDA}" type="presParOf" srcId="{C46F0122-2F2D-49F4-BD39-95BB520959BD}" destId="{2533E651-3FA0-4AD0-84A0-4FB73BB1312B}" srcOrd="1" destOrd="0" presId="urn:microsoft.com/office/officeart/2018/2/layout/IconVerticalSolidList"/>
    <dgm:cxn modelId="{72B853DA-BC46-4646-A59E-B2C7D64AD54C}" type="presParOf" srcId="{C46F0122-2F2D-49F4-BD39-95BB520959BD}" destId="{37608494-808F-4220-9DEE-088583EAA607}" srcOrd="2" destOrd="0" presId="urn:microsoft.com/office/officeart/2018/2/layout/IconVerticalSolidList"/>
    <dgm:cxn modelId="{866C7D69-E55B-4452-B5BD-71372469E8AC}" type="presParOf" srcId="{C46F0122-2F2D-49F4-BD39-95BB520959BD}" destId="{92C95FC0-4BB9-485D-9B85-D8F5A5BEBF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4EDCF1-13B1-4DFC-9172-0979E384A44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5937D5-5DE4-4BF8-9EA7-15C5DA99EE60}">
      <dgm:prSet/>
      <dgm:spPr/>
      <dgm:t>
        <a:bodyPr/>
        <a:lstStyle/>
        <a:p>
          <a:r>
            <a:rPr lang="en-AU"/>
            <a:t>Direct Financial Losses</a:t>
          </a:r>
          <a:endParaRPr lang="en-US"/>
        </a:p>
      </dgm:t>
    </dgm:pt>
    <dgm:pt modelId="{5A72C29F-92F3-4EEE-BDE3-871EDC9CC709}" type="parTrans" cxnId="{6922F815-0C4A-48FD-B41D-C99061F75E21}">
      <dgm:prSet/>
      <dgm:spPr/>
      <dgm:t>
        <a:bodyPr/>
        <a:lstStyle/>
        <a:p>
          <a:endParaRPr lang="en-US"/>
        </a:p>
      </dgm:t>
    </dgm:pt>
    <dgm:pt modelId="{297298D6-C83F-4FE9-B58D-6D644CEF4071}" type="sibTrans" cxnId="{6922F815-0C4A-48FD-B41D-C99061F75E21}">
      <dgm:prSet/>
      <dgm:spPr/>
      <dgm:t>
        <a:bodyPr/>
        <a:lstStyle/>
        <a:p>
          <a:endParaRPr lang="en-US"/>
        </a:p>
      </dgm:t>
    </dgm:pt>
    <dgm:pt modelId="{4ECAB061-86E6-41D5-A3DC-8DB982104990}">
      <dgm:prSet/>
      <dgm:spPr/>
      <dgm:t>
        <a:bodyPr/>
        <a:lstStyle/>
        <a:p>
          <a:r>
            <a:rPr lang="en-AU"/>
            <a:t>Customer Trust &amp; Experience</a:t>
          </a:r>
          <a:endParaRPr lang="en-US"/>
        </a:p>
      </dgm:t>
    </dgm:pt>
    <dgm:pt modelId="{5B7B0635-7A6C-4604-8980-C14C0B629912}" type="parTrans" cxnId="{FBA5201F-5808-4798-BD28-7E3E4986C357}">
      <dgm:prSet/>
      <dgm:spPr/>
      <dgm:t>
        <a:bodyPr/>
        <a:lstStyle/>
        <a:p>
          <a:endParaRPr lang="en-US"/>
        </a:p>
      </dgm:t>
    </dgm:pt>
    <dgm:pt modelId="{2602B140-5A9E-4FC6-9C66-3324AD552463}" type="sibTrans" cxnId="{FBA5201F-5808-4798-BD28-7E3E4986C357}">
      <dgm:prSet/>
      <dgm:spPr/>
      <dgm:t>
        <a:bodyPr/>
        <a:lstStyle/>
        <a:p>
          <a:endParaRPr lang="en-US"/>
        </a:p>
      </dgm:t>
    </dgm:pt>
    <dgm:pt modelId="{A0AC1B92-E8C5-427B-ABF7-C7B06B0282B2}">
      <dgm:prSet/>
      <dgm:spPr/>
      <dgm:t>
        <a:bodyPr/>
        <a:lstStyle/>
        <a:p>
          <a:r>
            <a:rPr lang="en-AU"/>
            <a:t>Regulatory and Compliance Risk</a:t>
          </a:r>
          <a:endParaRPr lang="en-US"/>
        </a:p>
      </dgm:t>
    </dgm:pt>
    <dgm:pt modelId="{F384CCC1-3C62-4D7C-9BDB-4B3AD1D318CE}" type="parTrans" cxnId="{36A35E00-2318-4FAD-9E16-6BC9AF534ECF}">
      <dgm:prSet/>
      <dgm:spPr/>
      <dgm:t>
        <a:bodyPr/>
        <a:lstStyle/>
        <a:p>
          <a:endParaRPr lang="en-US"/>
        </a:p>
      </dgm:t>
    </dgm:pt>
    <dgm:pt modelId="{33AB1E56-1BED-42C7-A6FB-610F2981FA36}" type="sibTrans" cxnId="{36A35E00-2318-4FAD-9E16-6BC9AF534ECF}">
      <dgm:prSet/>
      <dgm:spPr/>
      <dgm:t>
        <a:bodyPr/>
        <a:lstStyle/>
        <a:p>
          <a:endParaRPr lang="en-US"/>
        </a:p>
      </dgm:t>
    </dgm:pt>
    <dgm:pt modelId="{8C18BB20-E0AA-4BCC-A99F-06409247DCC4}">
      <dgm:prSet/>
      <dgm:spPr/>
      <dgm:t>
        <a:bodyPr/>
        <a:lstStyle/>
        <a:p>
          <a:r>
            <a:rPr lang="en-AU"/>
            <a:t>Reputational Damage</a:t>
          </a:r>
          <a:endParaRPr lang="en-US"/>
        </a:p>
      </dgm:t>
    </dgm:pt>
    <dgm:pt modelId="{E1E576D8-CF11-4649-BD0D-AB0C330D88E2}" type="parTrans" cxnId="{B0632D63-C0D6-4DA7-B819-A76B559B7598}">
      <dgm:prSet/>
      <dgm:spPr/>
      <dgm:t>
        <a:bodyPr/>
        <a:lstStyle/>
        <a:p>
          <a:endParaRPr lang="en-US"/>
        </a:p>
      </dgm:t>
    </dgm:pt>
    <dgm:pt modelId="{8BFBBAEE-FE37-4DAD-B006-14C961668324}" type="sibTrans" cxnId="{B0632D63-C0D6-4DA7-B819-A76B559B7598}">
      <dgm:prSet/>
      <dgm:spPr/>
      <dgm:t>
        <a:bodyPr/>
        <a:lstStyle/>
        <a:p>
          <a:endParaRPr lang="en-US"/>
        </a:p>
      </dgm:t>
    </dgm:pt>
    <dgm:pt modelId="{B9022001-5A03-420F-A5E4-5A6D76119CC2}" type="pres">
      <dgm:prSet presAssocID="{024EDCF1-13B1-4DFC-9172-0979E384A44D}" presName="matrix" presStyleCnt="0">
        <dgm:presLayoutVars>
          <dgm:chMax val="1"/>
          <dgm:dir/>
          <dgm:resizeHandles val="exact"/>
        </dgm:presLayoutVars>
      </dgm:prSet>
      <dgm:spPr/>
    </dgm:pt>
    <dgm:pt modelId="{ECF8E33D-2B78-417B-A5E8-D48979E2EFD0}" type="pres">
      <dgm:prSet presAssocID="{024EDCF1-13B1-4DFC-9172-0979E384A44D}" presName="diamond" presStyleLbl="bgShp" presStyleIdx="0" presStyleCnt="1"/>
      <dgm:spPr/>
    </dgm:pt>
    <dgm:pt modelId="{F7018E92-AC6B-49CE-A22A-3D29E99A4046}" type="pres">
      <dgm:prSet presAssocID="{024EDCF1-13B1-4DFC-9172-0979E384A44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55DFD0D-9AEA-47BC-815E-142AF1C06EAB}" type="pres">
      <dgm:prSet presAssocID="{024EDCF1-13B1-4DFC-9172-0979E384A44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C60356-209F-446D-A08F-03CEBE8BF5CD}" type="pres">
      <dgm:prSet presAssocID="{024EDCF1-13B1-4DFC-9172-0979E384A44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BF18FDC-8CF9-44C8-937B-91AC540BA10F}" type="pres">
      <dgm:prSet presAssocID="{024EDCF1-13B1-4DFC-9172-0979E384A44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5E03100-1621-4F77-9CF0-FFE0894AD160}" type="presOf" srcId="{A0AC1B92-E8C5-427B-ABF7-C7B06B0282B2}" destId="{F8C60356-209F-446D-A08F-03CEBE8BF5CD}" srcOrd="0" destOrd="0" presId="urn:microsoft.com/office/officeart/2005/8/layout/matrix3"/>
    <dgm:cxn modelId="{36A35E00-2318-4FAD-9E16-6BC9AF534ECF}" srcId="{024EDCF1-13B1-4DFC-9172-0979E384A44D}" destId="{A0AC1B92-E8C5-427B-ABF7-C7B06B0282B2}" srcOrd="2" destOrd="0" parTransId="{F384CCC1-3C62-4D7C-9BDB-4B3AD1D318CE}" sibTransId="{33AB1E56-1BED-42C7-A6FB-610F2981FA36}"/>
    <dgm:cxn modelId="{6922F815-0C4A-48FD-B41D-C99061F75E21}" srcId="{024EDCF1-13B1-4DFC-9172-0979E384A44D}" destId="{4B5937D5-5DE4-4BF8-9EA7-15C5DA99EE60}" srcOrd="0" destOrd="0" parTransId="{5A72C29F-92F3-4EEE-BDE3-871EDC9CC709}" sibTransId="{297298D6-C83F-4FE9-B58D-6D644CEF4071}"/>
    <dgm:cxn modelId="{8AA1AC1B-76EC-415A-BF38-B0B748834011}" type="presOf" srcId="{024EDCF1-13B1-4DFC-9172-0979E384A44D}" destId="{B9022001-5A03-420F-A5E4-5A6D76119CC2}" srcOrd="0" destOrd="0" presId="urn:microsoft.com/office/officeart/2005/8/layout/matrix3"/>
    <dgm:cxn modelId="{9B88A61E-FACB-4892-A407-FCF8E090E3B9}" type="presOf" srcId="{4ECAB061-86E6-41D5-A3DC-8DB982104990}" destId="{855DFD0D-9AEA-47BC-815E-142AF1C06EAB}" srcOrd="0" destOrd="0" presId="urn:microsoft.com/office/officeart/2005/8/layout/matrix3"/>
    <dgm:cxn modelId="{FBA5201F-5808-4798-BD28-7E3E4986C357}" srcId="{024EDCF1-13B1-4DFC-9172-0979E384A44D}" destId="{4ECAB061-86E6-41D5-A3DC-8DB982104990}" srcOrd="1" destOrd="0" parTransId="{5B7B0635-7A6C-4604-8980-C14C0B629912}" sibTransId="{2602B140-5A9E-4FC6-9C66-3324AD552463}"/>
    <dgm:cxn modelId="{B0632D63-C0D6-4DA7-B819-A76B559B7598}" srcId="{024EDCF1-13B1-4DFC-9172-0979E384A44D}" destId="{8C18BB20-E0AA-4BCC-A99F-06409247DCC4}" srcOrd="3" destOrd="0" parTransId="{E1E576D8-CF11-4649-BD0D-AB0C330D88E2}" sibTransId="{8BFBBAEE-FE37-4DAD-B006-14C961668324}"/>
    <dgm:cxn modelId="{50128BBD-0DCF-4B02-A140-4A2DE276D0E4}" type="presOf" srcId="{8C18BB20-E0AA-4BCC-A99F-06409247DCC4}" destId="{DBF18FDC-8CF9-44C8-937B-91AC540BA10F}" srcOrd="0" destOrd="0" presId="urn:microsoft.com/office/officeart/2005/8/layout/matrix3"/>
    <dgm:cxn modelId="{DCE51FCA-44CA-4B8E-BE3E-446E1790CFF7}" type="presOf" srcId="{4B5937D5-5DE4-4BF8-9EA7-15C5DA99EE60}" destId="{F7018E92-AC6B-49CE-A22A-3D29E99A4046}" srcOrd="0" destOrd="0" presId="urn:microsoft.com/office/officeart/2005/8/layout/matrix3"/>
    <dgm:cxn modelId="{8969E998-04E2-4E5D-9DEA-A3576C263A27}" type="presParOf" srcId="{B9022001-5A03-420F-A5E4-5A6D76119CC2}" destId="{ECF8E33D-2B78-417B-A5E8-D48979E2EFD0}" srcOrd="0" destOrd="0" presId="urn:microsoft.com/office/officeart/2005/8/layout/matrix3"/>
    <dgm:cxn modelId="{6A3042DF-65F1-49EA-84EA-93668984FF1F}" type="presParOf" srcId="{B9022001-5A03-420F-A5E4-5A6D76119CC2}" destId="{F7018E92-AC6B-49CE-A22A-3D29E99A4046}" srcOrd="1" destOrd="0" presId="urn:microsoft.com/office/officeart/2005/8/layout/matrix3"/>
    <dgm:cxn modelId="{24B1458E-0A5A-4FBC-919E-CD0A178607D4}" type="presParOf" srcId="{B9022001-5A03-420F-A5E4-5A6D76119CC2}" destId="{855DFD0D-9AEA-47BC-815E-142AF1C06EAB}" srcOrd="2" destOrd="0" presId="urn:microsoft.com/office/officeart/2005/8/layout/matrix3"/>
    <dgm:cxn modelId="{BC117165-21B6-4B6C-8C25-933EAC6B01A5}" type="presParOf" srcId="{B9022001-5A03-420F-A5E4-5A6D76119CC2}" destId="{F8C60356-209F-446D-A08F-03CEBE8BF5CD}" srcOrd="3" destOrd="0" presId="urn:microsoft.com/office/officeart/2005/8/layout/matrix3"/>
    <dgm:cxn modelId="{80C6EE39-178A-4B90-B47A-DEB82A3B16E0}" type="presParOf" srcId="{B9022001-5A03-420F-A5E4-5A6D76119CC2}" destId="{DBF18FDC-8CF9-44C8-937B-91AC540BA10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732F4-E8CB-4B1F-A447-89EB15DC86A0}">
      <dsp:nvSpPr>
        <dsp:cNvPr id="0" name=""/>
        <dsp:cNvSpPr/>
      </dsp:nvSpPr>
      <dsp:spPr>
        <a:xfrm>
          <a:off x="0" y="656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615DD-F517-40BE-A228-A7EB253BA103}">
      <dsp:nvSpPr>
        <dsp:cNvPr id="0" name=""/>
        <dsp:cNvSpPr/>
      </dsp:nvSpPr>
      <dsp:spPr>
        <a:xfrm>
          <a:off x="464584" y="346215"/>
          <a:ext cx="844699" cy="8446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85CD1-47EA-4969-ACBA-7740E2178863}">
      <dsp:nvSpPr>
        <dsp:cNvPr id="0" name=""/>
        <dsp:cNvSpPr/>
      </dsp:nvSpPr>
      <dsp:spPr>
        <a:xfrm>
          <a:off x="1773868" y="656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Fraudulent transactions are </a:t>
          </a:r>
          <a:r>
            <a:rPr lang="en-AU" sz="1900" b="1" kern="1200"/>
            <a:t>unauthorized or deceptive financial activities</a:t>
          </a:r>
          <a:r>
            <a:rPr lang="en-AU" sz="1900" kern="1200"/>
            <a:t> that result in </a:t>
          </a:r>
          <a:r>
            <a:rPr lang="en-AU" sz="1900" b="1" kern="1200"/>
            <a:t>direct or indirect loss</a:t>
          </a:r>
          <a:r>
            <a:rPr lang="en-AU" sz="1900" kern="1200"/>
            <a:t> to the bank, the customer, or both</a:t>
          </a:r>
          <a:endParaRPr lang="en-US" sz="1900" kern="1200"/>
        </a:p>
      </dsp:txBody>
      <dsp:txXfrm>
        <a:off x="1773868" y="656"/>
        <a:ext cx="4846387" cy="1535816"/>
      </dsp:txXfrm>
    </dsp:sp>
    <dsp:sp modelId="{7398AB2E-7754-4DBA-A3B2-7E2F2F6B06D3}">
      <dsp:nvSpPr>
        <dsp:cNvPr id="0" name=""/>
        <dsp:cNvSpPr/>
      </dsp:nvSpPr>
      <dsp:spPr>
        <a:xfrm>
          <a:off x="0" y="1920427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CD91E-D9EC-4BC8-8796-1EE15C9866B3}">
      <dsp:nvSpPr>
        <dsp:cNvPr id="0" name=""/>
        <dsp:cNvSpPr/>
      </dsp:nvSpPr>
      <dsp:spPr>
        <a:xfrm>
          <a:off x="464584" y="2265986"/>
          <a:ext cx="844699" cy="8446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94303-FF0D-4680-AB45-9562B7BEC2C3}">
      <dsp:nvSpPr>
        <dsp:cNvPr id="0" name=""/>
        <dsp:cNvSpPr/>
      </dsp:nvSpPr>
      <dsp:spPr>
        <a:xfrm>
          <a:off x="1773868" y="1920427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Total fraud losses reached </a:t>
          </a:r>
          <a:r>
            <a:rPr lang="en-AU" sz="1900" b="1" kern="1200"/>
            <a:t>€4.2 billion in 2024</a:t>
          </a:r>
          <a:r>
            <a:rPr lang="en-AU" sz="1900" kern="1200"/>
            <a:t>, up from €3.5 billion in 2023 – According to the European Economic Area.</a:t>
          </a:r>
          <a:endParaRPr lang="en-US" sz="1900" kern="1200"/>
        </a:p>
      </dsp:txBody>
      <dsp:txXfrm>
        <a:off x="1773868" y="1920427"/>
        <a:ext cx="4846387" cy="1535816"/>
      </dsp:txXfrm>
    </dsp:sp>
    <dsp:sp modelId="{C44412EB-ACB9-4FF6-B0E7-7501BE0DC5CB}">
      <dsp:nvSpPr>
        <dsp:cNvPr id="0" name=""/>
        <dsp:cNvSpPr/>
      </dsp:nvSpPr>
      <dsp:spPr>
        <a:xfrm>
          <a:off x="0" y="3840198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3E651-3FA0-4AD0-84A0-4FB73BB1312B}">
      <dsp:nvSpPr>
        <dsp:cNvPr id="0" name=""/>
        <dsp:cNvSpPr/>
      </dsp:nvSpPr>
      <dsp:spPr>
        <a:xfrm>
          <a:off x="464584" y="4185757"/>
          <a:ext cx="844699" cy="8446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95FC0-4BB9-485D-9B85-D8F5A5BEBF6B}">
      <dsp:nvSpPr>
        <dsp:cNvPr id="0" name=""/>
        <dsp:cNvSpPr/>
      </dsp:nvSpPr>
      <dsp:spPr>
        <a:xfrm>
          <a:off x="1773868" y="3840198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Every </a:t>
          </a:r>
          <a:r>
            <a:rPr lang="en-AU" sz="1900" b="1" kern="1200"/>
            <a:t>$1 lost</a:t>
          </a:r>
          <a:r>
            <a:rPr lang="en-AU" sz="1900" kern="1200"/>
            <a:t> to fraud, North American financial institutions lose about </a:t>
          </a:r>
          <a:r>
            <a:rPr lang="en-AU" sz="1900" b="1" kern="1200"/>
            <a:t>$4.41</a:t>
          </a:r>
          <a:r>
            <a:rPr lang="en-AU" sz="1900" kern="1200"/>
            <a:t> in total cost (LexisNexis study)</a:t>
          </a:r>
          <a:endParaRPr lang="en-US" sz="1900" kern="1200"/>
        </a:p>
      </dsp:txBody>
      <dsp:txXfrm>
        <a:off x="1773868" y="3840198"/>
        <a:ext cx="4846387" cy="1535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8E33D-2B78-417B-A5E8-D48979E2EFD0}">
      <dsp:nvSpPr>
        <dsp:cNvPr id="0" name=""/>
        <dsp:cNvSpPr/>
      </dsp:nvSpPr>
      <dsp:spPr>
        <a:xfrm>
          <a:off x="621791" y="0"/>
          <a:ext cx="5376672" cy="537667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18E92-AC6B-49CE-A22A-3D29E99A4046}">
      <dsp:nvSpPr>
        <dsp:cNvPr id="0" name=""/>
        <dsp:cNvSpPr/>
      </dsp:nvSpPr>
      <dsp:spPr>
        <a:xfrm>
          <a:off x="1132575" y="510783"/>
          <a:ext cx="2096902" cy="2096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Direct Financial Losses</a:t>
          </a:r>
          <a:endParaRPr lang="en-US" sz="2400" kern="1200"/>
        </a:p>
      </dsp:txBody>
      <dsp:txXfrm>
        <a:off x="1234937" y="613145"/>
        <a:ext cx="1892178" cy="1892178"/>
      </dsp:txXfrm>
    </dsp:sp>
    <dsp:sp modelId="{855DFD0D-9AEA-47BC-815E-142AF1C06EAB}">
      <dsp:nvSpPr>
        <dsp:cNvPr id="0" name=""/>
        <dsp:cNvSpPr/>
      </dsp:nvSpPr>
      <dsp:spPr>
        <a:xfrm>
          <a:off x="3390778" y="510783"/>
          <a:ext cx="2096902" cy="2096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Customer Trust &amp; Experience</a:t>
          </a:r>
          <a:endParaRPr lang="en-US" sz="2400" kern="1200"/>
        </a:p>
      </dsp:txBody>
      <dsp:txXfrm>
        <a:off x="3493140" y="613145"/>
        <a:ext cx="1892178" cy="1892178"/>
      </dsp:txXfrm>
    </dsp:sp>
    <dsp:sp modelId="{F8C60356-209F-446D-A08F-03CEBE8BF5CD}">
      <dsp:nvSpPr>
        <dsp:cNvPr id="0" name=""/>
        <dsp:cNvSpPr/>
      </dsp:nvSpPr>
      <dsp:spPr>
        <a:xfrm>
          <a:off x="1132575" y="2768986"/>
          <a:ext cx="2096902" cy="2096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Regulatory and Compliance Risk</a:t>
          </a:r>
          <a:endParaRPr lang="en-US" sz="2400" kern="1200"/>
        </a:p>
      </dsp:txBody>
      <dsp:txXfrm>
        <a:off x="1234937" y="2871348"/>
        <a:ext cx="1892178" cy="1892178"/>
      </dsp:txXfrm>
    </dsp:sp>
    <dsp:sp modelId="{DBF18FDC-8CF9-44C8-937B-91AC540BA10F}">
      <dsp:nvSpPr>
        <dsp:cNvPr id="0" name=""/>
        <dsp:cNvSpPr/>
      </dsp:nvSpPr>
      <dsp:spPr>
        <a:xfrm>
          <a:off x="3390778" y="2768986"/>
          <a:ext cx="2096902" cy="20969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Reputational Damage</a:t>
          </a:r>
          <a:endParaRPr lang="en-US" sz="2400" kern="1200"/>
        </a:p>
      </dsp:txBody>
      <dsp:txXfrm>
        <a:off x="3493140" y="2871348"/>
        <a:ext cx="1892178" cy="1892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6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58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3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4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2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9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5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0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1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8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0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3CE08-6DB1-4BB9-7242-4C229B76EB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292" r="8819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3A41C0-CD17-B101-1D7A-FC6E1A9EE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AU" sz="6000" dirty="0">
                <a:solidFill>
                  <a:srgbClr val="FFFFFF"/>
                </a:solidFill>
              </a:rPr>
              <a:t>Fraud Detection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4D68D-4583-A7B9-EF88-94BADF379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 fontScale="92500" lnSpcReduction="10000"/>
          </a:bodyPr>
          <a:lstStyle/>
          <a:p>
            <a:r>
              <a:rPr lang="en-AU" sz="2400" dirty="0">
                <a:solidFill>
                  <a:srgbClr val="FFFFFF"/>
                </a:solidFill>
              </a:rPr>
              <a:t>Business Problem &amp; Machine Learning Solution</a:t>
            </a:r>
          </a:p>
          <a:p>
            <a:endParaRPr lang="en-AU" sz="2400" dirty="0">
              <a:solidFill>
                <a:srgbClr val="FFFFFF"/>
              </a:solidFill>
            </a:endParaRPr>
          </a:p>
          <a:p>
            <a:r>
              <a:rPr lang="en-AU" sz="2400" dirty="0">
                <a:solidFill>
                  <a:srgbClr val="FFFFFF"/>
                </a:solidFill>
              </a:rPr>
              <a:t>Ben Duong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3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67791-4F65-A217-4BDA-1563510E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AU" dirty="0"/>
              <a:t>Business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E6635C-AAD0-0304-1F80-F2F18E15D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6206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888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FBEC0-99A6-8AAF-DFD7-FD892D77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AU" dirty="0"/>
              <a:t>Business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32034-B3F5-C481-052A-12CC6CE3F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330797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57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5BB54-87F8-403E-EAD5-C2B696DA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AU" dirty="0"/>
              <a:t>Data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D6E930-B31E-13B6-E5DD-947AC0F61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1115568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Transaction-level tabular dataset sourced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Kaggle (IEEE–CIS Fraud Detection)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Contains a mix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numerical and categorical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describing transaction behavior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Binary target variable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         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Non-Fraud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        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= Fraud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Highly imbalanced class distribution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with fraudulent transactions representing a small minority of the data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8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4ACC8-5767-460C-EC2F-2B488AE8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AU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76D5-6896-0C78-2F9C-1FF76E985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Exploratory Data Analysis (EDA)</a:t>
            </a:r>
            <a:r>
              <a:rPr lang="en-US" altLang="en-US" dirty="0">
                <a:latin typeface="Arial" panose="020B0604020202020204" pitchFamily="34" charset="0"/>
              </a:rPr>
              <a:t> to understand data structure, feature distributions, and fraud patterns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 cleaning and preprocessing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- Removed features with extremely high missing rates (≥ 90%)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- Imputed missing values using feature-appropriate strategies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- Converted categorical variables into numerical representations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Stratified train–test split</a:t>
            </a:r>
            <a:r>
              <a:rPr lang="en-US" altLang="en-US" dirty="0">
                <a:latin typeface="Arial" panose="020B0604020202020204" pitchFamily="34" charset="0"/>
              </a:rPr>
              <a:t> to preserve the original class distribution</a:t>
            </a:r>
            <a:endParaRPr lang="en-US" altLang="en-US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2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C0E98-BD15-08B1-16BB-5D9DBFEC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667F3-D99F-EF87-9DA4-697CE3EA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AU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E752-DC3A-EC78-DD3F-A67B09FEB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development and comparison: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- Trained multiple models (Logistic Regression, Support Vector Machine, and </a:t>
            </a:r>
            <a:r>
              <a:rPr lang="en-US" altLang="en-US" dirty="0" err="1">
                <a:latin typeface="Arial" panose="020B0604020202020204" pitchFamily="34" charset="0"/>
              </a:rPr>
              <a:t>XGBoost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- Selected the best-performing model based on fraud-focused evaluation metrics</a:t>
            </a:r>
            <a:endParaRPr lang="en-AU" dirty="0"/>
          </a:p>
          <a:p>
            <a:endParaRPr lang="en-AU" dirty="0"/>
          </a:p>
          <a:p>
            <a:r>
              <a:rPr lang="en-AU" dirty="0"/>
              <a:t>Hyperparameter tuning with </a:t>
            </a:r>
            <a:r>
              <a:rPr lang="en-AU" dirty="0" err="1"/>
              <a:t>RandomizedSearch</a:t>
            </a:r>
            <a:r>
              <a:rPr lang="en-AU" dirty="0"/>
              <a:t>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Evaluation focused on Recall, Precision and F1 Score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2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68474-2E80-BE8D-6377-08BE7AB1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AU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0B97-F95F-B39E-21C9-8D47906F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AU" sz="1500" b="1" dirty="0"/>
              <a:t>Accuracy:</a:t>
            </a:r>
            <a:r>
              <a:rPr lang="en-AU" sz="1500" dirty="0"/>
              <a:t> ~97%</a:t>
            </a:r>
          </a:p>
          <a:p>
            <a:pPr lvl="1">
              <a:lnSpc>
                <a:spcPct val="100000"/>
              </a:lnSpc>
            </a:pPr>
            <a:r>
              <a:rPr lang="en-AU" sz="1500" dirty="0"/>
              <a:t>High accuracy is expected due to the heavily imbalanced nature of the data</a:t>
            </a:r>
          </a:p>
          <a:p>
            <a:pPr>
              <a:lnSpc>
                <a:spcPct val="100000"/>
              </a:lnSpc>
            </a:pPr>
            <a:r>
              <a:rPr lang="en-AU" sz="1500" b="1" dirty="0"/>
              <a:t>Precision:</a:t>
            </a:r>
            <a:r>
              <a:rPr lang="en-AU" sz="1500" dirty="0"/>
              <a:t> ~95%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500" dirty="0"/>
              <a:t>      - When the model flags a transaction as fraudulent, it is correct most of the time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500" dirty="0"/>
              <a:t>     - This helps minimize unnecessary customer disruption and investigation effort</a:t>
            </a:r>
          </a:p>
          <a:p>
            <a:pPr>
              <a:lnSpc>
                <a:spcPct val="100000"/>
              </a:lnSpc>
            </a:pPr>
            <a:r>
              <a:rPr lang="en-AU" sz="1500" b="1" dirty="0"/>
              <a:t>Recall:</a:t>
            </a:r>
            <a:r>
              <a:rPr lang="en-AU" sz="1500" dirty="0"/>
              <a:t> ~60%</a:t>
            </a:r>
          </a:p>
          <a:p>
            <a:pPr lvl="1">
              <a:lnSpc>
                <a:spcPct val="100000"/>
              </a:lnSpc>
            </a:pPr>
            <a:r>
              <a:rPr lang="en-AU" sz="1500" dirty="0"/>
              <a:t>The model successfully identifies a majority of fraudulent transactions, but some fraud cases are still missed</a:t>
            </a:r>
          </a:p>
          <a:p>
            <a:pPr>
              <a:lnSpc>
                <a:spcPct val="100000"/>
              </a:lnSpc>
            </a:pPr>
            <a:r>
              <a:rPr lang="en-AU" sz="1500" b="1" dirty="0"/>
              <a:t>F1-score:</a:t>
            </a:r>
            <a:r>
              <a:rPr lang="en-AU" sz="1500" dirty="0"/>
              <a:t> ~73%</a:t>
            </a:r>
          </a:p>
          <a:p>
            <a:pPr lvl="1">
              <a:lnSpc>
                <a:spcPct val="100000"/>
              </a:lnSpc>
            </a:pPr>
            <a:r>
              <a:rPr lang="en-AU" sz="1500" dirty="0"/>
              <a:t>Reflects a reasonable balance between precision and recall given the class imbalance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500" dirty="0"/>
              <a:t>Overall, accuracy alone is not a reliable indicator of model effectiveness in this context.</a:t>
            </a:r>
            <a:br>
              <a:rPr lang="en-AU" sz="1500" dirty="0"/>
            </a:br>
            <a:r>
              <a:rPr lang="en-AU" sz="1500" dirty="0"/>
              <a:t>Recall and F1-score provide a more meaningful assessment of the model’s ability to detect fraud.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4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D38F2-9116-53F2-CBEB-AAA3F7C5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550A-67FC-2A8E-4C12-2420BD29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Leverage “V” Fields in Fraud Detection Models</a:t>
            </a:r>
          </a:p>
          <a:p>
            <a:r>
              <a:rPr lang="en-AU" dirty="0"/>
              <a:t>Deploy Automated Fraud Alerts</a:t>
            </a:r>
          </a:p>
          <a:p>
            <a:r>
              <a:rPr lang="en-AU" dirty="0"/>
              <a:t> Further investment to  upgrade computational resources (GPU/CPU) to enable full dataset training and broader hyperparameter optimization</a:t>
            </a:r>
          </a:p>
          <a:p>
            <a:r>
              <a:rPr lang="en-AU" dirty="0"/>
              <a:t> Access to more transparent or less-encoded data fields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294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EF2B-50B9-0C9E-9A3B-3236761A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D018E-2AED-309F-7F66-284DA6F67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 Machine learning significantly improves fraud detection effectiveness</a:t>
            </a:r>
          </a:p>
          <a:p>
            <a:r>
              <a:rPr lang="en-AU" dirty="0"/>
              <a:t> </a:t>
            </a:r>
            <a:r>
              <a:rPr lang="en-AU" dirty="0" err="1"/>
              <a:t>XGBoost</a:t>
            </a:r>
            <a:r>
              <a:rPr lang="en-AU" dirty="0"/>
              <a:t> performs well on imbalanced tabular data but not reach expected result</a:t>
            </a:r>
          </a:p>
          <a:p>
            <a:r>
              <a:rPr lang="en-AU" dirty="0"/>
              <a:t> The model provides a strong foundation for production deployment</a:t>
            </a:r>
          </a:p>
          <a:p>
            <a:r>
              <a:rPr lang="en-AU" dirty="0"/>
              <a:t>Clear path for enhancement with explainability and real-time scoring</a:t>
            </a:r>
          </a:p>
        </p:txBody>
      </p:sp>
    </p:spTree>
    <p:extLst>
      <p:ext uri="{BB962C8B-B14F-4D97-AF65-F5344CB8AC3E}">
        <p14:creationId xmlns:p14="http://schemas.microsoft.com/office/powerpoint/2010/main" val="373526458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474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Bierstadt</vt:lpstr>
      <vt:lpstr>GestaltVTI</vt:lpstr>
      <vt:lpstr>Fraud Detection Model</vt:lpstr>
      <vt:lpstr>Business Problem</vt:lpstr>
      <vt:lpstr>Business Problem</vt:lpstr>
      <vt:lpstr>Data Description</vt:lpstr>
      <vt:lpstr>Methodology</vt:lpstr>
      <vt:lpstr>Methodology</vt:lpstr>
      <vt:lpstr>Results</vt:lpstr>
      <vt:lpstr>Insights &amp;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Duong</dc:creator>
  <cp:lastModifiedBy>Ben Duong</cp:lastModifiedBy>
  <cp:revision>1</cp:revision>
  <dcterms:created xsi:type="dcterms:W3CDTF">2026-01-21T14:25:28Z</dcterms:created>
  <dcterms:modified xsi:type="dcterms:W3CDTF">2026-01-21T15:25:15Z</dcterms:modified>
</cp:coreProperties>
</file>